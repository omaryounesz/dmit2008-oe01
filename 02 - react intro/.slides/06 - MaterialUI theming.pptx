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Roboto Slab"/>
      <p:regular r:id="rId23"/>
      <p:bold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Slab-bold.fntdata"/><Relationship Id="rId23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d3a4879e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d3a4879e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c141908b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c141908b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ad3a487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ad3a487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5325edeb5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5325edeb5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5325edeb5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5325edeb5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325edeb5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325edeb5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40d922896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540d92289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540d922896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540d92289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bc53e41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7bc53e41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7bc53e41f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7bc53e41f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bc53e41f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bc53e41f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bc53e41f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bc53e41f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bc53e41f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bc53e41f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bc53e41f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bc53e41f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c04ea642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c04ea642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bc0a4b2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bc0a4b2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b7fcc622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b7fcc622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ass-lang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v2.grommet.io/" TargetMode="External"/><Relationship Id="rId4" Type="http://schemas.openxmlformats.org/officeDocument/2006/relationships/hyperlink" Target="https://tailwindcss.com/docs/guides/nextjs" TargetMode="External"/><Relationship Id="rId5" Type="http://schemas.openxmlformats.org/officeDocument/2006/relationships/hyperlink" Target="https://ant.design/" TargetMode="External"/><Relationship Id="rId6" Type="http://schemas.openxmlformats.org/officeDocument/2006/relationships/hyperlink" Target="https://react-bootstrap.github.io/" TargetMode="External"/><Relationship Id="rId7" Type="http://schemas.openxmlformats.org/officeDocument/2006/relationships/hyperlink" Target="https://react.semantic-ui.com/" TargetMode="External"/><Relationship Id="rId8" Type="http://schemas.openxmlformats.org/officeDocument/2006/relationships/hyperlink" Target="https://www.microsoft.com/design/fluent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ass-lang.com/documentation/variabl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ass-lang.com/documentation/style-rules/parent-selector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lesscss.org/features/#parent-selectors-featur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ass-lang.com/documentation/at-rules/mixi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sass/libsass" TargetMode="External"/><Relationship Id="rId4" Type="http://schemas.openxmlformats.org/officeDocument/2006/relationships/hyperlink" Target="https://sass-lang.com/documentation/at-rules/import" TargetMode="External"/><Relationship Id="rId5" Type="http://schemas.openxmlformats.org/officeDocument/2006/relationships/hyperlink" Target="https://sass-lang.com/documentation/at-rules/extend" TargetMode="External"/><Relationship Id="rId6" Type="http://schemas.openxmlformats.org/officeDocument/2006/relationships/hyperlink" Target="https://sass-lang.com/documentation/values" TargetMode="External"/><Relationship Id="rId7" Type="http://schemas.openxmlformats.org/officeDocument/2006/relationships/hyperlink" Target="https://sass-lang.com/documentation/operators" TargetMode="External"/><Relationship Id="rId8" Type="http://schemas.openxmlformats.org/officeDocument/2006/relationships/hyperlink" Target="https://sass-lang.com/documentation/at-rules/functio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andrew/node-sass-example" TargetMode="External"/><Relationship Id="rId4" Type="http://schemas.openxmlformats.org/officeDocument/2006/relationships/hyperlink" Target="https://sass-lang.com/documentation" TargetMode="External"/><Relationship Id="rId5" Type="http://schemas.openxmlformats.org/officeDocument/2006/relationships/hyperlink" Target="https://sass-lang.com/documentation/synta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Javascript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UI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DMIT 2008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946900" y="108682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Expectations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MUI Theming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CSS In React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CSS Modules in React and Next.js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Sass Modules in React and Next.js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Other Options For Styling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 Overview of Sass (Optional) for folks who are interested in this.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- What I expect from you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Late Assignments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Cheating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 a good classmate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go to stupid sites in class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Show up to class </a:t>
            </a:r>
            <a:br>
              <a:rPr lang="en"/>
            </a:br>
            <a:r>
              <a:rPr lang="en"/>
              <a:t>(10 mins I shut the door. Send me a message if you show up all the time or if you get in an accident and I’ll let you in.)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MUI Theming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class we’ve install Material UI, and we’re going to be using this library throughout the course.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don’t want all of our sites to look the same if we’re using MUI, so we’re going to change the look by using their concept of “Themes” in our application.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 the right we have an example of the setup.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4387800" y="458025"/>
            <a:ext cx="4779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createTheme }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'@mui/material'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themeOptions =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palette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primary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'#757ce8'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secondary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light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'#ff7961'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theme = createTheme(themeOptions);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 }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387800" y="3317650"/>
            <a:ext cx="4404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ThemeProvider }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'@mui/material'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 }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'../utils/theme/config.js'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MyApp({ Component, pageProps }) {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&lt;ThemeProvider theme={theme}&gt;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&lt;Component {...pageProps} /&gt;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&lt;/ThemeProvider&gt;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9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</a:t>
            </a:r>
            <a:endParaRPr sz="9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387800" y="3011625"/>
            <a:ext cx="39999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pages/_app.js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387800" y="177400"/>
            <a:ext cx="39999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utils/theme/config</a:t>
            </a:r>
            <a:r>
              <a:rPr lang="en"/>
              <a:t>.js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In React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in React can be applied globally by just importing the css file like we have in the “JavaScript Refresh” piece of the course where we import bootstrap.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 the right we have our example of the previous page but we import the global styles above it.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4515225" y="1489825"/>
            <a:ext cx="59166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global styles that you'd like applied.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'../styles/globals.css'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theme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ThemeProvider 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'@mui/material'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theme 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'../utils/theme/config.js'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MyApp({ Component, pageProps })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&lt;ThemeProvider theme={theme}&gt;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&lt;Component {...pageProps} /&gt;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&lt;/ThemeProvider&gt;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MyApp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515225" y="1144125"/>
            <a:ext cx="39999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pages/_app.js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Modules In React (Next.js Especially)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279900" y="1262525"/>
            <a:ext cx="4107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Out of the box, you’ll see that Next.js uses a CSS Modules. This is a bit different than global CSS in that it keeps the styling scoped to that specific component (and won’t affect anything else.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You can see that we name our CSS file “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Home.module.css</a:t>
            </a:r>
            <a:r>
              <a:rPr lang="en" sz="1100"/>
              <a:t>” rather than “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Home.css</a:t>
            </a:r>
            <a:r>
              <a:rPr lang="en" sz="1100"/>
              <a:t>” and you need to import it like below:</a:t>
            </a:r>
            <a:br>
              <a:rPr lang="en" sz="1100"/>
            </a:b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styles </a:t>
            </a:r>
            <a:r>
              <a:rPr lang="en" sz="10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0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'../styles/Home.module.css'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Then to use any of the classes say the “</a:t>
            </a: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" sz="1100"/>
              <a:t>” class you’d use the className like below:</a:t>
            </a:r>
            <a:br>
              <a:rPr lang="en" sz="1100"/>
            </a:b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&lt;main className={styles.main}&gt;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If you would like to use two together you’d write it like so:</a:t>
            </a:r>
            <a:br>
              <a:rPr lang="en" sz="1100"/>
            </a:br>
            <a:r>
              <a:rPr lang="en" sz="10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&lt;main className={`${styles.main} ${styles.title}`}&gt;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/>
              <a:t>This will only affect this specific component, even if other components use the same class names for styling.</a:t>
            </a:r>
            <a:endParaRPr sz="10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387800" y="1262525"/>
            <a:ext cx="54822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Head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'next/head'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Image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'next/image'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styles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'../styles/Home.module.css'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Home() {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&lt;div className={styles.container}&gt;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&lt;Head&gt;</a:t>
            </a:r>
            <a:endParaRPr sz="12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&lt;title&gt;Create Next App&lt;/title&gt;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&lt;meta name=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"description"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content=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"Generated by create next app"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&lt;link rel=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"icon"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href=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"/favicon.ico"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/&gt;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&lt;/Head&gt;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&lt;main className={styles.main}&gt;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&lt;h1 className={styles.title}&gt;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Welcome to DMIT2008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&lt;/h1&gt;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&lt;/main&gt;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&lt;/div&gt;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Next.js Sass</a:t>
            </a:r>
            <a:r>
              <a:rPr lang="en"/>
              <a:t> Modules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 Modules are really similar to CSS Modules except they use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Sass Language</a:t>
            </a:r>
            <a:r>
              <a:rPr lang="en"/>
              <a:t>. You’ll have to add a bit of configuration (shown on the right) so that we can have sass watching the styles.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We’ll be doing this in an example, but the guts of the ideas is the exact same as CSS Modules.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On the right we show that we need to install sass to get it to work, and the configuration required.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4566400" y="2673150"/>
            <a:ext cx="46548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path = require(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'path'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module.exports =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sassOptions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includePaths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[path.join(__dirname,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'styles'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)],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566400" y="2288425"/>
            <a:ext cx="39999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Next.config.js add the following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4566400" y="1926625"/>
            <a:ext cx="3000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 sass --save-dev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566400" y="1452025"/>
            <a:ext cx="39999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Install Sass into your project.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Options For Styling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taken a look at a couple of ways to style and customize our application with UI libraries. Below is a list of other things that you can take a look at.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Grommet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Tailwind.css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Ant.design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React-Bootstrap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Semantic UI React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Fluent UI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ctrTitle"/>
          </p:nvPr>
        </p:nvSpPr>
        <p:spPr>
          <a:xfrm>
            <a:off x="1635902" y="12111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Overview of Sass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Sass, a language tour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87900" y="1230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Import Note: The details of Sass are not required for this course.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We’re going to take a look at some of reasons why sass is so powerful and see a couple of examples of them.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Features that we’re going to look at that are awesome: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Nesting and some parent Selectors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Mixins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other features.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87900" y="5447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r>
              <a:rPr lang="en"/>
              <a:t>ss: Variables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87900" y="1230825"/>
            <a:ext cx="3697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Sass Variables just like less, allow us to reduce the </a:t>
            </a:r>
            <a:r>
              <a:rPr lang="en" sz="1400"/>
              <a:t>repetition.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Say for example you’d like to change theme colors for your site? Great! You only have to change in one place which awesome.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To create variables you just to initialize it with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" sz="1400"/>
              <a:t>”, you can see this on the right example.</a:t>
            </a:r>
            <a:endParaRPr sz="1400"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5058900" y="335200"/>
            <a:ext cx="3697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Example:</a:t>
            </a:r>
            <a:br>
              <a:rPr lang="en" sz="1400"/>
            </a:br>
            <a:r>
              <a:rPr lang="en" sz="1400"/>
              <a:t>Sass file:</a:t>
            </a:r>
            <a:endParaRPr sz="1400"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5058900" y="2619988"/>
            <a:ext cx="3697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After processing it becomes:</a:t>
            </a:r>
            <a:br>
              <a:rPr lang="en" sz="1400"/>
            </a:br>
            <a:r>
              <a:rPr lang="en" sz="1400"/>
              <a:t>CSS file:</a:t>
            </a:r>
            <a:endParaRPr sz="1400"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5058900" y="4407725"/>
            <a:ext cx="35046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https://sass-lang.com/documentation/variables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3" name="Google Shape;143;p24"/>
          <p:cNvSpPr txBox="1"/>
          <p:nvPr/>
        </p:nvSpPr>
        <p:spPr>
          <a:xfrm>
            <a:off x="5284100" y="940625"/>
            <a:ext cx="4026000" cy="20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theme-color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$theme-color;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$theme-color;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5284100" y="3145325"/>
            <a:ext cx="3000000" cy="1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r>
              <a:rPr lang="en"/>
              <a:t>ss: </a:t>
            </a:r>
            <a:r>
              <a:rPr lang="en"/>
              <a:t>Nesting and a bit of parent selectors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CSS doesn’t support the nesting of selectors, and I’m sure that at some point you’ve thought to yourself, why doesn’t CSS have this?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Well, sass does and it’s pretty intuitive (it’s also very similar to less which we took at last class). We’re going to take a look at what this looks like next slide.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If you take a look at the documentation, you can also refer to the parent selector by using the “&amp;” just like less as well.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Let’s take a look at an example of what this looks like.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4070425" y="4509525"/>
            <a:ext cx="5103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https://sass-lang.com/documentation/style-rules/parent-selector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r>
              <a:rPr lang="en"/>
              <a:t>ss: Nesting and a bit of parent selectors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756225" y="1184100"/>
            <a:ext cx="3697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Example:</a:t>
            </a:r>
            <a:br>
              <a:rPr lang="en" sz="1400"/>
            </a:br>
            <a:r>
              <a:rPr lang="en" sz="1400"/>
              <a:t>Sass file:</a:t>
            </a:r>
            <a:endParaRPr sz="1400"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4698900" y="1184100"/>
            <a:ext cx="3697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After processing it becomes:</a:t>
            </a:r>
            <a:br>
              <a:rPr lang="en" sz="1400"/>
            </a:br>
            <a:r>
              <a:rPr lang="en" sz="1400"/>
              <a:t>CSS file:</a:t>
            </a:r>
            <a:endParaRPr sz="1400"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6755700" y="4235700"/>
            <a:ext cx="2388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3"/>
              </a:rPr>
              <a:t>http://lesscss.org/features/#parent-selectors-feature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p26"/>
          <p:cNvSpPr txBox="1"/>
          <p:nvPr/>
        </p:nvSpPr>
        <p:spPr>
          <a:xfrm>
            <a:off x="851075" y="17643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#content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auto;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a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none;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4698900" y="17643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#fff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#content p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auto;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#main #content a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text-decoration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none;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</a:t>
            </a:r>
            <a:r>
              <a:rPr lang="en"/>
              <a:t>ss: Mixins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87900" y="1185024"/>
            <a:ext cx="83682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Sass mixins allow you to define styles that you can reuse all over the place. To define a mixin you need to use the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@mixin</a:t>
            </a:r>
            <a:r>
              <a:rPr lang="en" sz="1400"/>
              <a:t>” and to use (and reuse) the mixin somewhere use the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@include</a:t>
            </a:r>
            <a:r>
              <a:rPr lang="en" sz="1400"/>
              <a:t>”. Below is an example </a:t>
            </a:r>
            <a:endParaRPr sz="1400"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11425" y="2056550"/>
            <a:ext cx="3697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Example:</a:t>
            </a:r>
            <a:br>
              <a:rPr lang="en" sz="1400"/>
            </a:br>
            <a:r>
              <a:rPr lang="en" sz="1400"/>
              <a:t>Sass file:</a:t>
            </a:r>
            <a:endParaRPr sz="1400"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353900" y="2059925"/>
            <a:ext cx="3697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After processing it becomes:</a:t>
            </a:r>
            <a:br>
              <a:rPr lang="en" sz="1400"/>
            </a:br>
            <a:r>
              <a:rPr lang="en" sz="1400"/>
              <a:t>CSS file:</a:t>
            </a:r>
            <a:endParaRPr sz="1400"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5609700" y="4531725"/>
            <a:ext cx="35787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Resources:</a:t>
            </a:r>
            <a:br>
              <a:rPr lang="en" sz="1200"/>
            </a:b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https://sass-lang.com/documentation/at-rules/mixin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27"/>
          <p:cNvSpPr txBox="1"/>
          <p:nvPr/>
        </p:nvSpPr>
        <p:spPr>
          <a:xfrm>
            <a:off x="470625" y="2661050"/>
            <a:ext cx="3000000" cy="22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@mixin large-text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25rem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bold;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@include large-text;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h2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@include large-text;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3433925" y="2661050"/>
            <a:ext cx="30000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h1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25rem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bold;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h2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1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25rem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: bold;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Sass: Other Features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387900" y="1185024"/>
            <a:ext cx="83682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There a ton of more features in Sass that make really great to use, and also shorten up your css.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Here’s a few more common ones to be used. (but be careful not all of them are useable in this sass implementation which is “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libsass</a:t>
            </a:r>
            <a:r>
              <a:rPr lang="en" sz="1200"/>
              <a:t>”):</a:t>
            </a:r>
            <a:endParaRPr sz="12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</a:t>
            </a:r>
            <a:r>
              <a:rPr lang="en" sz="12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@import</a:t>
            </a:r>
            <a:r>
              <a:rPr lang="en" sz="1200"/>
              <a:t>” ability to import other sass files to have access to mixins, functions and vars: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https://sass-lang.com/documentation/at-rules/import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“</a:t>
            </a:r>
            <a:r>
              <a:rPr lang="en" sz="12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@extend</a:t>
            </a:r>
            <a:r>
              <a:rPr lang="en" sz="1200"/>
              <a:t>” ability to use all of the styles from another class, and apply to another item.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5"/>
              </a:rPr>
              <a:t>https://sass-lang.com/documentation/at-rules/extend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Different types of values: numbers, strings, colors, lists, booleans null, maps (like json or js objects).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6"/>
              </a:rPr>
              <a:t>https://sass-lang.com/documentation/values</a:t>
            </a:r>
            <a:r>
              <a:rPr lang="en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Operators which include math, and </a:t>
            </a:r>
            <a:r>
              <a:rPr lang="en" sz="1200"/>
              <a:t>comparative</a:t>
            </a:r>
            <a:r>
              <a:rPr lang="en" sz="1200"/>
              <a:t> operators.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7"/>
              </a:rPr>
              <a:t>https://sass-lang.com/documentation/operators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Functions which allow you calculate some more complicated values: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8"/>
              </a:rPr>
              <a:t>https://sass-lang.com/documentation/at-rules/function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Go take a look, this is a great place to learn Sass.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387900" y="128999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Node Sass Javascript usage:</a:t>
            </a:r>
            <a:br>
              <a:rPr lang="en" sz="1400"/>
            </a:br>
            <a:r>
              <a:rPr lang="en" sz="1400" u="sng">
                <a:solidFill>
                  <a:schemeClr val="hlink"/>
                </a:solidFill>
                <a:hlinkClick r:id="rId3"/>
              </a:rPr>
              <a:t>https://github.com/andrew/node-sass-example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Sass Language Documentation:</a:t>
            </a:r>
            <a:br>
              <a:rPr lang="en" sz="1400"/>
            </a:br>
            <a:r>
              <a:rPr lang="en" sz="1400" u="sng">
                <a:solidFill>
                  <a:schemeClr val="hlink"/>
                </a:solidFill>
                <a:hlinkClick r:id="rId4"/>
              </a:rPr>
              <a:t>https://sass-lang.com/documentation</a:t>
            </a:r>
            <a:r>
              <a:rPr lang="en" sz="1400"/>
              <a:t>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Syntax differences between .sass and .scss files.</a:t>
            </a:r>
            <a:br>
              <a:rPr lang="en" sz="1400"/>
            </a:br>
            <a:r>
              <a:rPr lang="en" sz="1400" u="sng">
                <a:solidFill>
                  <a:schemeClr val="hlink"/>
                </a:solidFill>
                <a:hlinkClick r:id="rId5"/>
              </a:rPr>
              <a:t>https://sass-lang.com/documentation/syntax</a:t>
            </a:r>
            <a:r>
              <a:rPr lang="en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